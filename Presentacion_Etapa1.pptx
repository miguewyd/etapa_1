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JetBrains Mono" panose="02000009000000000000" pitchFamily="49" charset="0"/>
      <p:regular r:id="rId18"/>
      <p:bold r:id="rId19"/>
      <p:italic r:id="rId20"/>
      <p:boldItalic r:id="rId21"/>
    </p:embeddedFont>
    <p:embeddedFont>
      <p:font typeface="Plus Jakarta Sans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hib Umer" initials="MU" lastIdx="1" clrIdx="0">
    <p:extLst>
      <p:ext uri="{19B8F6BF-5375-455C-9EA6-DF929625EA0E}">
        <p15:presenceInfo xmlns:p15="http://schemas.microsoft.com/office/powerpoint/2012/main" userId="6e127637b6ae7b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16FF6-C3D0-49BF-A98E-BD14642FDD57}" type="datetimeFigureOut">
              <a:rPr lang="es-MX" smtClean="0"/>
              <a:t>28/09/2026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E3A05-55C8-4107-B7C8-572AF2E5FB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820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EE3A05-55C8-4107-B7C8-572AF2E5FB93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2945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3981896"/>
            <a:ext cx="9334500" cy="9525"/>
          </a:xfrm>
          <a:prstGeom prst="rect">
            <a:avLst/>
          </a:prstGeom>
          <a:solidFill>
            <a:srgbClr val="2774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104578"/>
            <a:ext cx="1480393" cy="276225"/>
          </a:xfrm>
          <a:prstGeom prst="roundRect">
            <a:avLst>
              <a:gd name="adj" fmla="val 27586"/>
            </a:avLst>
          </a:prstGeom>
          <a:solidFill>
            <a:srgbClr val="112F46"/>
          </a:solidFill>
          <a:ln w="9525">
            <a:solidFill>
              <a:srgbClr val="1D4B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56693" y="2104578"/>
            <a:ext cx="2562373" cy="276225"/>
          </a:xfrm>
          <a:prstGeom prst="roundRect">
            <a:avLst>
              <a:gd name="adj" fmla="val 27586"/>
            </a:avLst>
          </a:prstGeom>
          <a:solidFill>
            <a:srgbClr val="292348"/>
          </a:solidFill>
          <a:ln w="9525">
            <a:solidFill>
              <a:srgbClr val="46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185541"/>
            <a:ext cx="148679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568" y="2185541"/>
            <a:ext cx="148679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4334321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334321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4334321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612" y="4448621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12" y="4448621"/>
            <a:ext cx="2190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7887" y="4448621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2609403"/>
            <a:ext cx="11430000" cy="591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lus Jakarta Sans"/>
              </a:rPr>
              <a:t>Simulador de Sistema Hospitalario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353246"/>
            <a:ext cx="114300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Plus Jakarta Sans"/>
              </a:rPr>
              <a:t>Proyecto integrador — Etapa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229" y="2161728"/>
            <a:ext cx="1084064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POO · GRUPO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4922" y="2161728"/>
            <a:ext cx="2166044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C084FC"/>
                </a:solidFill>
                <a:latin typeface="Plus Jakarta Sans"/>
              </a:rPr>
              <a:t>FACULTAD DE INGENIERÍA · UNAM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334321"/>
            <a:ext cx="2119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EQUIPO DE DESARROLLO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534346"/>
            <a:ext cx="2119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Presenta: Equipo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8450" y="4334321"/>
            <a:ext cx="27146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ENTREGA ACADÉMICA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8450" y="4534346"/>
            <a:ext cx="2714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28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230635"/>
            <a:ext cx="5429250" cy="2867025"/>
          </a:xfrm>
          <a:prstGeom prst="roundRect">
            <a:avLst>
              <a:gd name="adj" fmla="val 531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230635"/>
            <a:ext cx="5429250" cy="2867025"/>
          </a:xfrm>
          <a:prstGeom prst="roundRect">
            <a:avLst>
              <a:gd name="adj" fmla="val 531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7725" y="4411860"/>
            <a:ext cx="48006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43675" y="4411860"/>
            <a:ext cx="48006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4411860"/>
            <a:ext cx="4800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43675" y="4411860"/>
            <a:ext cx="48006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583060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583060"/>
            <a:ext cx="495300" cy="495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725935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2725935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CONTEXTO DEL PROYECTO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Planteamiento del problema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2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554610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Se necesita un sistema que simule, de forma sencilla, cómo se organiza la atención dentro de un hospital.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3675" y="3554610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Debe reflejar quién registra al personal, cómo llegan los pacientes y cómo se les da seguimiento hasta que son atendidos.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102048"/>
            <a:ext cx="5429250" cy="312420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102048"/>
            <a:ext cx="5429250" cy="312420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7725" y="4473773"/>
            <a:ext cx="28575" cy="400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43675" y="4473773"/>
            <a:ext cx="28575" cy="4000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454473"/>
            <a:ext cx="495300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454473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12" y="2597348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2597348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PROPÓSITO ACADÉMICO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3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178373"/>
            <a:ext cx="6000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APLICACIÓN PRÁCTICA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426023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Aplicar los conceptos de Programación Orientada a Objetos construyendo un modelo funcional de un hospital.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3178373"/>
            <a:ext cx="56483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Plus Jakarta Sans"/>
              </a:rPr>
              <a:t>RELACIONES Y REGLAS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675" y="3426023"/>
            <a:ext cx="48958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8FAFC"/>
                </a:solidFill>
                <a:latin typeface="Plus Jakarta Sans"/>
              </a:rPr>
              <a:t>Definir sus clases, cómo se relacionan entre sí, y las reglas que deben respetar al asignar y atender pacientes.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9725" y="2578298"/>
            <a:ext cx="514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JetBrains Mono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15675" y="2578298"/>
            <a:ext cx="5143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4D399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62325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20175" y="2378273"/>
            <a:ext cx="2638425" cy="2571750"/>
          </a:xfrm>
          <a:prstGeom prst="roundRect">
            <a:avLst>
              <a:gd name="adj" fmla="val 518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2475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1400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0325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239250" y="4388048"/>
            <a:ext cx="220027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654498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2654498"/>
            <a:ext cx="4191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654498"/>
            <a:ext cx="419100" cy="419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0" y="2654498"/>
            <a:ext cx="419100" cy="419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778323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0" y="2778323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778323"/>
            <a:ext cx="1524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9262" y="2778323"/>
            <a:ext cx="219075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ARQUITECTURA DE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Desarrollo: las 4 clases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4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CONTROLADOR GENERAL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C084FC"/>
                </a:solidFill>
                <a:latin typeface="Plus Jakarta Sans"/>
              </a:rPr>
              <a:t>PERSONAL MÉDICO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Plus Jakarta Sans"/>
              </a:rPr>
              <a:t>PERSONAL DE SOPORTE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9250" y="4521398"/>
            <a:ext cx="2295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B923C"/>
                </a:solidFill>
                <a:latin typeface="Plus Jakarta Sans"/>
              </a:rPr>
              <a:t>ENTIDAD RECEPTORA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Sistema </a:t>
            </a:r>
            <a:r>
              <a:rPr sz="975" b="1" i="0" u="none" dirty="0" err="1">
                <a:solidFill>
                  <a:srgbClr val="64748B"/>
                </a:solidFill>
                <a:latin typeface="Plus Jakarta Sans"/>
              </a:rPr>
              <a:t>Hospitalario</a:t>
            </a:r>
            <a:r>
              <a:rPr sz="975" b="1" i="0" u="none" dirty="0">
                <a:solidFill>
                  <a:srgbClr val="64748B"/>
                </a:solidFill>
                <a:latin typeface="Plus Jakarta Sans"/>
              </a:rPr>
              <a:t> · Etapa 1 · POO Grupo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Sistema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Centraliza el registro de todo el hospital.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Médico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1400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Atiende pacientes de su especialidad.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0325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Enfermero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0325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Da tratamiento a los pacientes asignados.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9250" y="3264098"/>
            <a:ext cx="288786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Paciente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9250" y="3597473"/>
            <a:ext cx="22955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Guarda sus datos y su estado de atención.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JetBrains Mono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2125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C084FC"/>
                </a:solidFill>
                <a:latin typeface="JetBrains Mono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1050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JetBrains Mono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29975" y="2754510"/>
            <a:ext cx="4953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B923C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9" y="1489620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19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659856"/>
            <a:ext cx="5368528" cy="647700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020591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5200352"/>
            <a:ext cx="5368528" cy="647700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372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38100" cy="4667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2403" y="148009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298031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65985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659856"/>
            <a:ext cx="3810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2403" y="2659856"/>
            <a:ext cx="9525" cy="647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477791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020591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020591"/>
            <a:ext cx="38100" cy="4667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2403" y="4020591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838527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200352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5200352"/>
            <a:ext cx="38100" cy="6477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2403" y="5200352"/>
            <a:ext cx="9525" cy="647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Sistema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Gestor central de registros, conteos y asignaciones automáticas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5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62297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Es el controlador general del hospital.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802731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Guarda el nombre del hospital y cuenta cuántos médicos, enfermeros y pacientes hay registrados.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163466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Registra a cada médico, enfermero y paciente que entra al sistema.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343227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Decide a quién se asigna cada paciente: si la especialidad coincide con un médico o un enfermero disponible.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9CF94613-65ED-4093-BB1D-B3A12DDBD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2175420"/>
            <a:ext cx="5227145" cy="28511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8" y="1480095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4127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419647"/>
            <a:ext cx="5368528" cy="6096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3540174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4479726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5419278"/>
            <a:ext cx="5368528" cy="428625"/>
          </a:xfrm>
          <a:prstGeom prst="roundRect">
            <a:avLst>
              <a:gd name="adj" fmla="val 1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8991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1480095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2403" y="1480095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3019722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419647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2419647"/>
            <a:ext cx="38100" cy="6096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2403" y="2419647"/>
            <a:ext cx="9525" cy="609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3959274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3540174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540174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92403" y="3540174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489882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447972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4479726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92403" y="4479726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3400" y="5838378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3400" y="5419278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3400" y="5419278"/>
            <a:ext cx="38100" cy="428625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2403" y="5419278"/>
            <a:ext cx="9525" cy="4286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Médico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Representación del cuerpo facultativo, capacidad y reglas de consulta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6 /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160392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Representa al personal médico del hospital.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543472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Se registra en el sistema y puede recibir hasta 10 pacientes de su especialidad.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950" y="3663999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Solo atiende a un paciente a la vez en consulta.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4603551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Puede pasar al paciente de consulta a tratamiento.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5543103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Muestra su lista de pacientes ordenada.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CE3EBECA-D594-44BC-8080-75FB3833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103" y="2239190"/>
            <a:ext cx="5225119" cy="28500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8" y="1480095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185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720280"/>
            <a:ext cx="5368528" cy="647700"/>
          </a:xfrm>
          <a:prstGeom prst="roundRect">
            <a:avLst>
              <a:gd name="adj" fmla="val 117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141440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538162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372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38100" cy="4667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2403" y="148009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35845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720280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720280"/>
            <a:ext cx="38100" cy="647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2403" y="2720280"/>
            <a:ext cx="9525" cy="647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598640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141440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141440"/>
            <a:ext cx="38100" cy="4667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2403" y="4141440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83882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38162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5381625"/>
            <a:ext cx="38100" cy="4667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2403" y="538162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i="0" u="none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Enfermero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Gestión de tratamientos simultáneos y atención especializada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7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62297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Representa al personal de enfermería.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863155"/>
            <a:ext cx="507325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Se registra en el sistema y puede cuidar hasta 3 pacientes de su especialidad al mismo tiempo.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284315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Da tratamiento a los pacientes que ya le fueron asignados.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52450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Muestra su lista de pacientes ordenada.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D3653361-BF85-4176-9C3C-24F572A1E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502" y="2244978"/>
            <a:ext cx="5242322" cy="2859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06728" y="1480095"/>
            <a:ext cx="5451871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5E3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48009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780555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4081016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5381476"/>
            <a:ext cx="5368528" cy="466725"/>
          </a:xfrm>
          <a:prstGeom prst="roundRect">
            <a:avLst>
              <a:gd name="adj" fmla="val 1632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3400" y="19372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148009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3400" y="1480095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92403" y="148009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23775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2780555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2780555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92403" y="2780555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3400" y="453821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408101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4081016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2403" y="4081016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3400" y="583867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5381476"/>
            <a:ext cx="53685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3400" y="5381476"/>
            <a:ext cx="38100" cy="466725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92403" y="5381476"/>
            <a:ext cx="9525" cy="4667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19100"/>
            <a:ext cx="3206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975" b="1" i="0" u="none" dirty="0">
                <a:solidFill>
                  <a:srgbClr val="38BDF8"/>
                </a:solidFill>
                <a:latin typeface="Plus Jakarta Sans"/>
              </a:rPr>
              <a:t>Clases</a:t>
            </a:r>
            <a:endParaRPr sz="975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Clase Paciente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051470"/>
            <a:ext cx="11658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Registro de requerimientos clínicos y máquinas de estados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8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162297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Representa a cada persona que llega al hospital.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2923430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Guarda su nombre y la especialidad que necesita.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950" y="4223891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Puede solicitar consulta.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524351"/>
            <a:ext cx="622250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Plus Jakarta Sans"/>
              </a:rPr>
              <a:t>Siempre se puede saber si está en consulta o en tratamiento.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08093079-912A-430D-8F17-D3C6F8DC0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32" y="2230478"/>
            <a:ext cx="5257061" cy="2867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13C1CB-7B8D-46EA-89E8-15EF2B664F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55" r="-17393"/>
          <a:stretch/>
        </p:blipFill>
        <p:spPr>
          <a:xfrm>
            <a:off x="0" y="0"/>
            <a:ext cx="14605972" cy="6858000"/>
          </a:xfrm>
          <a:prstGeom prst="rect">
            <a:avLst/>
          </a:prstGeom>
        </p:spPr>
      </p:pic>
      <p:sp>
        <p:nvSpPr>
          <p:cNvPr id="4" name="TextBox 29">
            <a:extLst>
              <a:ext uri="{FF2B5EF4-FFF2-40B4-BE49-F238E27FC236}">
                <a16:creationId xmlns:a16="http://schemas.microsoft.com/office/drawing/2014/main" id="{8478D995-3FDE-4301-AC66-12AED92B7D57}"/>
              </a:ext>
            </a:extLst>
          </p:cNvPr>
          <p:cNvSpPr txBox="1"/>
          <p:nvPr/>
        </p:nvSpPr>
        <p:spPr>
          <a:xfrm>
            <a:off x="533400" y="647700"/>
            <a:ext cx="8580875" cy="3440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s-ES" sz="2400" b="1" dirty="0">
                <a:solidFill>
                  <a:srgbClr val="FFFFFF"/>
                </a:solidFill>
                <a:latin typeface="Plus Jakarta Sans"/>
              </a:rPr>
              <a:t>Diagrama de clases UML general del Sistema Hospitalario.</a:t>
            </a:r>
            <a:endParaRPr sz="24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867CB4AD-41A1-4D9F-9263-A6A5ECEA3B07}"/>
              </a:ext>
            </a:extLst>
          </p:cNvPr>
          <p:cNvSpPr/>
          <p:nvPr/>
        </p:nvSpPr>
        <p:spPr>
          <a:xfrm>
            <a:off x="669956" y="1480095"/>
            <a:ext cx="10988643" cy="4368254"/>
          </a:xfrm>
          <a:prstGeom prst="roundRect">
            <a:avLst>
              <a:gd name="adj" fmla="val 3488"/>
            </a:avLst>
          </a:prstGeom>
          <a:solidFill>
            <a:srgbClr val="0D1322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607795-FB6F-4B38-9BB0-6180D869D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671" y="1579864"/>
            <a:ext cx="7405735" cy="40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7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8858" y="1572358"/>
            <a:ext cx="11125200" cy="4430641"/>
          </a:xfrm>
          <a:prstGeom prst="roundRect">
            <a:avLst>
              <a:gd name="adj" fmla="val 11666"/>
            </a:avLst>
          </a:prstGeom>
          <a:solidFill>
            <a:srgbClr val="0D1322"/>
          </a:solidFill>
          <a:ln w="19050">
            <a:solidFill>
              <a:srgbClr val="194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angle 4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91850" y="6257925"/>
            <a:ext cx="6667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VALIDACIÓN EN CONSOLA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Resultados y pruebas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7100" y="6296025"/>
            <a:ext cx="571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9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1179926"/>
            <a:ext cx="325249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SE PROBÓ EL SISTEMA COMPLETO EN CONSOLA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094E05B-99C7-4ABD-8947-BC91F6B0B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98162"/>
            <a:ext cx="3042924" cy="76648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1B4560F-DC35-413E-A100-208024C8B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3489536"/>
            <a:ext cx="3252493" cy="175351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EACB1E72-9321-4701-A066-7D26CD06EB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811"/>
          <a:stretch/>
        </p:blipFill>
        <p:spPr>
          <a:xfrm>
            <a:off x="4293887" y="2103286"/>
            <a:ext cx="3361087" cy="3231422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46754385-CB5F-4150-B4C4-FF6C298FD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027" y="2103286"/>
            <a:ext cx="3258347" cy="95052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22B29A30-C51A-4FAF-8BBB-343D1A2525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3027" y="3620074"/>
            <a:ext cx="3252493" cy="1462912"/>
          </a:xfrm>
          <a:prstGeom prst="rect">
            <a:avLst/>
          </a:prstGeom>
        </p:spPr>
      </p:pic>
      <p:sp>
        <p:nvSpPr>
          <p:cNvPr id="41" name="TextBox 19">
            <a:extLst>
              <a:ext uri="{FF2B5EF4-FFF2-40B4-BE49-F238E27FC236}">
                <a16:creationId xmlns:a16="http://schemas.microsoft.com/office/drawing/2014/main" id="{F88707D2-FE4C-4C43-94BD-F5BFCA4F4903}"/>
              </a:ext>
            </a:extLst>
          </p:cNvPr>
          <p:cNvSpPr txBox="1"/>
          <p:nvPr/>
        </p:nvSpPr>
        <p:spPr>
          <a:xfrm>
            <a:off x="533398" y="2865623"/>
            <a:ext cx="213680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050" b="1" i="0" u="none" dirty="0">
                <a:solidFill>
                  <a:srgbClr val="38BDF8"/>
                </a:solidFill>
                <a:latin typeface="Plus Jakarta Sans"/>
              </a:rPr>
              <a:t>Prueba de error de cadena vacía.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8E39E62A-FE12-46C7-A530-55305A0DD246}"/>
              </a:ext>
            </a:extLst>
          </p:cNvPr>
          <p:cNvSpPr txBox="1"/>
          <p:nvPr/>
        </p:nvSpPr>
        <p:spPr>
          <a:xfrm>
            <a:off x="533400" y="5253916"/>
            <a:ext cx="23820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050" b="1" i="0" u="none" dirty="0">
                <a:solidFill>
                  <a:srgbClr val="38BDF8"/>
                </a:solidFill>
                <a:latin typeface="Plus Jakarta Sans"/>
              </a:rPr>
              <a:t>Contadores y registros del hospital.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B55466F3-3FB9-436C-8584-74224509418B}"/>
              </a:ext>
            </a:extLst>
          </p:cNvPr>
          <p:cNvSpPr txBox="1"/>
          <p:nvPr/>
        </p:nvSpPr>
        <p:spPr>
          <a:xfrm>
            <a:off x="4293887" y="5356617"/>
            <a:ext cx="165269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38BDF8"/>
                </a:solidFill>
                <a:latin typeface="Plus Jakarta Sans"/>
              </a:rPr>
              <a:t>Asignación de pacientes.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E91500A3-A033-4CAA-96D9-793F9B240091}"/>
              </a:ext>
            </a:extLst>
          </p:cNvPr>
          <p:cNvSpPr txBox="1"/>
          <p:nvPr/>
        </p:nvSpPr>
        <p:spPr>
          <a:xfrm>
            <a:off x="7963027" y="3011289"/>
            <a:ext cx="156613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38BDF8"/>
                </a:solidFill>
                <a:latin typeface="Plus Jakarta Sans"/>
              </a:rPr>
              <a:t>Control de flujo clínico.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45" name="TextBox 19">
            <a:extLst>
              <a:ext uri="{FF2B5EF4-FFF2-40B4-BE49-F238E27FC236}">
                <a16:creationId xmlns:a16="http://schemas.microsoft.com/office/drawing/2014/main" id="{D682C56B-CD7E-4AAE-8D7C-7FD71E2117E7}"/>
              </a:ext>
            </a:extLst>
          </p:cNvPr>
          <p:cNvSpPr txBox="1"/>
          <p:nvPr/>
        </p:nvSpPr>
        <p:spPr>
          <a:xfrm>
            <a:off x="7963027" y="5160837"/>
            <a:ext cx="261289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MX" sz="1050" b="1" i="0" u="none" dirty="0">
                <a:solidFill>
                  <a:srgbClr val="38BDF8"/>
                </a:solidFill>
                <a:latin typeface="Plus Jakarta Sans"/>
              </a:rPr>
              <a:t>Ordenamiento alfabético descendente.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076950"/>
            <a:ext cx="111252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917501"/>
            <a:ext cx="11125200" cy="3493293"/>
          </a:xfrm>
          <a:prstGeom prst="roundRect">
            <a:avLst>
              <a:gd name="adj" fmla="val 436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076950"/>
            <a:ext cx="111252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15650" y="6257925"/>
            <a:ext cx="742950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3925" y="4601170"/>
            <a:ext cx="6238428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925" y="4601170"/>
            <a:ext cx="62384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308026"/>
            <a:ext cx="495300" cy="495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324600"/>
            <a:ext cx="1428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" y="2450901"/>
            <a:ext cx="18097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BALANCE DE LA ETAPA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4770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Plus Jakarta Sans"/>
              </a:rPr>
              <a:t>Conclusión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0900" y="6296025"/>
            <a:ext cx="6477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JetBrains Mono"/>
              </a:rPr>
              <a:t>10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3031926"/>
            <a:ext cx="10241380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Con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estas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cuatro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clases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logramos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representar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, de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manera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sencilla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,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el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funcionamiento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básico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de un hospital,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respetando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las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reglas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de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asignación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y control del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estado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de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cada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Plus Jakarta Sans"/>
              </a:rPr>
              <a:t>paciente</a:t>
            </a:r>
            <a:r>
              <a:rPr sz="1650" b="1" i="0" u="none" dirty="0">
                <a:solidFill>
                  <a:srgbClr val="F8FAFC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6310312"/>
            <a:ext cx="3274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Sistema Hospitalario · Etapa 1 · POO Grupo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4801195"/>
            <a:ext cx="77980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Esta base queda lista para crecer en la siguiente etapa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618</Words>
  <Application>Microsoft Office PowerPoint</Application>
  <PresentationFormat>Panorámica</PresentationFormat>
  <Paragraphs>99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Plus Jakarta Sans</vt:lpstr>
      <vt:lpstr>JetBrains Mono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migue</dc:creator>
  <cp:keywords/>
  <dc:description>generated using python-pptx</dc:description>
  <cp:lastModifiedBy>Muhib Umer</cp:lastModifiedBy>
  <cp:revision>5</cp:revision>
  <dcterms:created xsi:type="dcterms:W3CDTF">2013-01-27T09:14:16Z</dcterms:created>
  <dcterms:modified xsi:type="dcterms:W3CDTF">2026-09-28T17:24:51Z</dcterms:modified>
  <cp:category/>
</cp:coreProperties>
</file>